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484C6E-F4BE-4684-8CD4-598CDBB110FE}" v="2" dt="2025-08-12T02:26:52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0487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 dirty="0"/>
          </a:p>
        </p:txBody>
      </p:sp>
      <p:sp>
        <p:nvSpPr>
          <p:cNvPr id="10487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0487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420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8" name="Notes Placeholder 1048707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385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67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68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8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9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69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9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65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5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69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9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7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70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0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104866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66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66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4C9FA-0055-43BC-B023-48B23A08237D}" type="datetimeFigureOut">
              <a:rPr lang="en-US" smtClean="0"/>
              <a:t>10/13/2026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5550C-5186-4981-8175-01089E9C2DF7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1219199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588" name="Rectangle 4"/>
          <p:cNvSpPr/>
          <p:nvPr/>
        </p:nvSpPr>
        <p:spPr>
          <a:xfrm>
            <a:off x="304800" y="381000"/>
            <a:ext cx="8763000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 TO </a:t>
            </a:r>
          </a:p>
          <a:p>
            <a:pPr algn="ctr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AI&amp;DS</a:t>
            </a:r>
          </a:p>
          <a:p>
            <a:pPr algn="ctr"/>
            <a:r>
              <a:rPr lang="en-US" sz="5400" b="1" dirty="0">
                <a:solidFill>
                  <a:schemeClr val="accent6">
                    <a:lumMod val="75000"/>
                  </a:schemeClr>
                </a:solidFill>
                <a:latin typeface="Berlin Sans FB Demi" pitchFamily="34" charset="0"/>
                <a:cs typeface="Times New Roman" panose="02020603050405020304" pitchFamily="18" charset="0"/>
              </a:rPr>
              <a:t>MINI PROJECT EXPO-2026</a:t>
            </a: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D:\for stall add 09\college video\003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52800"/>
            <a:ext cx="9172775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0" y="-136321"/>
            <a:ext cx="9144000" cy="1034641"/>
          </a:xfrm>
        </p:spPr>
        <p:txBody>
          <a:bodyPr>
            <a:noAutofit/>
          </a:bodyPr>
          <a:lstStyle/>
          <a:p>
            <a:br>
              <a:rPr lang="en-US" sz="3800" b="1" dirty="0">
                <a:latin typeface="Times New Roman" pitchFamily="18" charset="0"/>
                <a:cs typeface="Times New Roman" pitchFamily="18" charset="0"/>
              </a:rPr>
            </a:br>
            <a:r>
              <a:rPr lang="en-US" sz="3800" b="1" dirty="0">
                <a:latin typeface="Times New Roman" pitchFamily="18" charset="0"/>
                <a:cs typeface="Times New Roman" pitchFamily="18" charset="0"/>
              </a:rPr>
              <a:t>Accident Emergency Response &amp; Intelligence System</a:t>
            </a:r>
            <a:endParaRPr lang="en-US" sz="3800" b="1" dirty="0">
              <a:latin typeface="Britannic Bold" panose="020B0903060703020204" pitchFamily="34" charset="0"/>
              <a:cs typeface="Times New Roman" pitchFamily="18" charset="0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2019300" y="1371600"/>
            <a:ext cx="5105400" cy="1600200"/>
          </a:xfrm>
        </p:spPr>
        <p:txBody>
          <a:bodyPr>
            <a:normAutofit fontScale="93929"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Agency FB" pitchFamily="34" charset="0"/>
                <a:cs typeface="Times New Roman" pitchFamily="18" charset="0"/>
              </a:rPr>
              <a:t>By,</a:t>
            </a:r>
          </a:p>
          <a:p>
            <a:pPr lvl="1"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Sabarigiri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(920224243048) </a:t>
            </a:r>
          </a:p>
          <a:p>
            <a:pPr lvl="1"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S. Senthamizh Selvan             (920224243051)                 </a:t>
            </a:r>
          </a:p>
          <a:p>
            <a:pPr lvl="1"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S.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Venkateshwaran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(920224243058)</a:t>
            </a:r>
          </a:p>
          <a:p>
            <a:pPr lvl="1"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S. Nithish                                 (920224243037)</a:t>
            </a:r>
          </a:p>
        </p:txBody>
      </p:sp>
      <p:sp>
        <p:nvSpPr>
          <p:cNvPr id="1048588" name="Rectangle 4"/>
          <p:cNvSpPr/>
          <p:nvPr/>
        </p:nvSpPr>
        <p:spPr>
          <a:xfrm>
            <a:off x="0" y="297180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P. Vasantha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kumar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DEPARTMENT OF ARTIFICIAL INTELLIGENCE AND DATA  SCIENCE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700" y="4800600"/>
            <a:ext cx="7086600" cy="167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7464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Content Placeholder 2"/>
          <p:cNvSpPr>
            <a:spLocks noGrp="1"/>
          </p:cNvSpPr>
          <p:nvPr>
            <p:ph idx="1"/>
          </p:nvPr>
        </p:nvSpPr>
        <p:spPr>
          <a:xfrm>
            <a:off x="25052" y="914400"/>
            <a:ext cx="9093896" cy="51053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dirty="0"/>
              <a:t>The objective of this project is to develop an </a:t>
            </a:r>
            <a:r>
              <a:rPr lang="en-IN" sz="2400" b="1" dirty="0"/>
              <a:t>Accident Emergency Response &amp; Intelligence System (AERIS)</a:t>
            </a:r>
            <a:r>
              <a:rPr lang="en-IN" sz="2400" dirty="0"/>
              <a:t> using </a:t>
            </a:r>
            <a:r>
              <a:rPr lang="en-IN" sz="2400" b="1" dirty="0"/>
              <a:t>Deep Learning and Computer Vision</a:t>
            </a:r>
            <a:r>
              <a:rPr lang="en-IN" sz="2400" dirty="0"/>
              <a:t> to monitor </a:t>
            </a:r>
            <a:r>
              <a:rPr lang="en-IN" sz="2400" b="1" dirty="0"/>
              <a:t>multi-camera video streams (front + rear)</a:t>
            </a:r>
            <a:r>
              <a:rPr lang="en-IN" sz="2400" dirty="0"/>
              <a:t>, detect road accidents in real time, capture accident evidence, and automatically send emergency alerts for rapid response.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400" b="1" dirty="0"/>
              <a:t>  By leveraging advanced AI technologies, the project seeks to:</a:t>
            </a:r>
            <a:endParaRPr lang="en-IN" sz="2400" dirty="0"/>
          </a:p>
          <a:p>
            <a:r>
              <a:rPr lang="en-IN" sz="2400" dirty="0"/>
              <a:t>Detect vehicles in real time using </a:t>
            </a:r>
            <a:r>
              <a:rPr lang="en-IN" sz="2400" b="1" dirty="0"/>
              <a:t>YOLOv8</a:t>
            </a:r>
            <a:r>
              <a:rPr lang="en-IN" sz="2400" dirty="0"/>
              <a:t>.</a:t>
            </a:r>
          </a:p>
          <a:p>
            <a:r>
              <a:rPr lang="en-IN" sz="2400" dirty="0"/>
              <a:t>Track multiple vehicles accurately using </a:t>
            </a:r>
            <a:r>
              <a:rPr lang="en-IN" sz="2400" b="1" dirty="0"/>
              <a:t>BoT-SORT</a:t>
            </a:r>
            <a:r>
              <a:rPr lang="en-IN" sz="2400" dirty="0"/>
              <a:t>.</a:t>
            </a:r>
          </a:p>
          <a:p>
            <a:r>
              <a:rPr lang="en-IN" sz="2400" dirty="0" err="1"/>
              <a:t>Analyze</a:t>
            </a:r>
            <a:r>
              <a:rPr lang="en-IN" sz="2400" dirty="0"/>
              <a:t> vehicle movements and detect potential road accidents automatically..</a:t>
            </a:r>
          </a:p>
          <a:p>
            <a:r>
              <a:rPr lang="en-IN" sz="2400" dirty="0"/>
              <a:t>Capture accident screenshots and video clips as evidence.</a:t>
            </a:r>
          </a:p>
          <a:p>
            <a:r>
              <a:rPr lang="en-IN" sz="2400" b="1" dirty="0"/>
              <a:t>Generate and send instant emergency alerts to the concerned authorities.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5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1048596" name="Rectangle 4"/>
          <p:cNvSpPr/>
          <p:nvPr/>
        </p:nvSpPr>
        <p:spPr>
          <a:xfrm>
            <a:off x="6589734" y="6019800"/>
            <a:ext cx="2590800" cy="83819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 Rounded MT Bold" pitchFamily="34" charset="0"/>
            </a:endParaRPr>
          </a:p>
          <a:p>
            <a:pPr algn="ctr"/>
            <a:r>
              <a:rPr lang="en-US" sz="2000" b="1" dirty="0">
                <a:latin typeface="Arial Rounded MT Bold" pitchFamily="34" charset="0"/>
              </a:rPr>
              <a:t> AI&amp;DS</a:t>
            </a:r>
          </a:p>
          <a:p>
            <a:pPr algn="ctr"/>
            <a:endParaRPr lang="en-US" sz="2000" b="1" dirty="0">
              <a:latin typeface="Arial Rounded MT Bold" pitchFamily="34" charset="0"/>
            </a:endParaRPr>
          </a:p>
        </p:txBody>
      </p:sp>
      <p:sp>
        <p:nvSpPr>
          <p:cNvPr id="1048597" name="Rectangle 5"/>
          <p:cNvSpPr/>
          <p:nvPr/>
        </p:nvSpPr>
        <p:spPr>
          <a:xfrm>
            <a:off x="-6928" y="6019800"/>
            <a:ext cx="2978727" cy="838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AERIS</a:t>
            </a:r>
          </a:p>
        </p:txBody>
      </p:sp>
      <p:pic>
        <p:nvPicPr>
          <p:cNvPr id="209715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799" y="6019801"/>
            <a:ext cx="3581401" cy="8382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3"/>
          <p:cNvSpPr/>
          <p:nvPr/>
        </p:nvSpPr>
        <p:spPr>
          <a:xfrm>
            <a:off x="-6928" y="0"/>
            <a:ext cx="9144000" cy="914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BLOCK DIAGRAM</a:t>
            </a:r>
          </a:p>
        </p:txBody>
      </p:sp>
      <p:sp>
        <p:nvSpPr>
          <p:cNvPr id="1048599" name="Rectangle 4"/>
          <p:cNvSpPr/>
          <p:nvPr/>
        </p:nvSpPr>
        <p:spPr>
          <a:xfrm>
            <a:off x="6546272" y="6019800"/>
            <a:ext cx="2590800" cy="838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 Rounded MT Bold" pitchFamily="34" charset="0"/>
            </a:endParaRPr>
          </a:p>
          <a:p>
            <a:pPr algn="ctr"/>
            <a:r>
              <a:rPr lang="en-US" sz="2000" b="1" dirty="0">
                <a:latin typeface="Arial Rounded MT Bold" pitchFamily="34" charset="0"/>
              </a:rPr>
              <a:t> AI&amp;DS</a:t>
            </a:r>
          </a:p>
          <a:p>
            <a:pPr algn="ctr"/>
            <a:endParaRPr lang="en-US" sz="2000" b="1" dirty="0">
              <a:latin typeface="Arial Rounded MT Bold" pitchFamily="34" charset="0"/>
            </a:endParaRPr>
          </a:p>
        </p:txBody>
      </p:sp>
      <p:sp>
        <p:nvSpPr>
          <p:cNvPr id="1048600" name="Rectangle 5"/>
          <p:cNvSpPr/>
          <p:nvPr/>
        </p:nvSpPr>
        <p:spPr>
          <a:xfrm>
            <a:off x="0" y="6013704"/>
            <a:ext cx="2971799" cy="838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AERIS</a:t>
            </a:r>
            <a:endParaRPr lang="en-US" sz="1800" dirty="0">
              <a:solidFill>
                <a:schemeClr val="tx1"/>
              </a:solidFill>
            </a:endParaRPr>
          </a:p>
        </p:txBody>
      </p:sp>
      <p:pic>
        <p:nvPicPr>
          <p:cNvPr id="2097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799" y="6019801"/>
            <a:ext cx="3581401" cy="8382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9" name="Content Placeholder 28">
            <a:extLst>
              <a:ext uri="{FF2B5EF4-FFF2-40B4-BE49-F238E27FC236}">
                <a16:creationId xmlns:a16="http://schemas.microsoft.com/office/drawing/2014/main" id="{8CD1EFD1-0C9E-2C10-6E5B-35905FD5E1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0308" y="1222248"/>
            <a:ext cx="8171727" cy="4495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Rectangle 3"/>
          <p:cNvSpPr/>
          <p:nvPr/>
        </p:nvSpPr>
        <p:spPr>
          <a:xfrm>
            <a:off x="-6928" y="-18288"/>
            <a:ext cx="9144000" cy="914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MODULES USED</a:t>
            </a:r>
          </a:p>
        </p:txBody>
      </p:sp>
      <p:sp>
        <p:nvSpPr>
          <p:cNvPr id="1048599" name="Rectangle 4"/>
          <p:cNvSpPr/>
          <p:nvPr/>
        </p:nvSpPr>
        <p:spPr>
          <a:xfrm>
            <a:off x="6553200" y="6019800"/>
            <a:ext cx="2590800" cy="838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Rounded MT Bold" pitchFamily="34" charset="0"/>
              </a:rPr>
              <a:t>AI&amp;DS</a:t>
            </a:r>
          </a:p>
        </p:txBody>
      </p:sp>
      <p:sp>
        <p:nvSpPr>
          <p:cNvPr id="1048600" name="Rectangle 5"/>
          <p:cNvSpPr/>
          <p:nvPr/>
        </p:nvSpPr>
        <p:spPr>
          <a:xfrm>
            <a:off x="-13692" y="6019800"/>
            <a:ext cx="2971799" cy="838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AERIS</a:t>
            </a:r>
          </a:p>
        </p:txBody>
      </p:sp>
      <p:pic>
        <p:nvPicPr>
          <p:cNvPr id="2097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799" y="6019801"/>
            <a:ext cx="3581401" cy="838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8124" y="1170138"/>
            <a:ext cx="9093896" cy="4849661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218196-CA9A-BBA5-7E46-1672D7B98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690" y="5374749"/>
            <a:ext cx="724637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F3ECB8-D354-4AB3-5E2A-59731FF9BE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740" y="1905506"/>
            <a:ext cx="8628664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/>
              <a:t>Input Module</a:t>
            </a:r>
            <a:r>
              <a:rPr lang="en-IN" sz="2400" dirty="0"/>
              <a:t> – Capture live video stream from the </a:t>
            </a:r>
            <a:r>
              <a:rPr lang="en-IN" sz="2400" b="1" dirty="0"/>
              <a:t>Front + Rear Camera Input</a:t>
            </a:r>
            <a:r>
              <a:rPr lang="en-IN" sz="2400" dirty="0"/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/>
              <a:t>Video Processing</a:t>
            </a:r>
            <a:r>
              <a:rPr lang="en-IN" sz="2400" dirty="0"/>
              <a:t> – Preprocess video frames using </a:t>
            </a:r>
            <a:r>
              <a:rPr lang="en-IN" sz="2400" b="1" dirty="0"/>
              <a:t>OpenCV</a:t>
            </a:r>
            <a:r>
              <a:rPr lang="en-IN" sz="2400" dirty="0"/>
              <a:t>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/>
              <a:t>Vehicle Detection</a:t>
            </a:r>
            <a:r>
              <a:rPr lang="en-IN" sz="2400" dirty="0"/>
              <a:t> – Detect vehicles using </a:t>
            </a:r>
            <a:r>
              <a:rPr lang="en-IN" sz="2400" b="1" dirty="0"/>
              <a:t>YOLOv8</a:t>
            </a:r>
            <a:r>
              <a:rPr lang="en-IN" sz="2400" dirty="0"/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/>
              <a:t>Vehicle Tracking</a:t>
            </a:r>
            <a:r>
              <a:rPr lang="en-IN" sz="2400" dirty="0"/>
              <a:t> – Track detected vehicles using </a:t>
            </a:r>
            <a:r>
              <a:rPr lang="en-IN" sz="2400" b="1" dirty="0"/>
              <a:t>BoT-SORT</a:t>
            </a:r>
            <a:r>
              <a:rPr lang="en-IN" sz="2400" dirty="0"/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/>
              <a:t>Accident Detection</a:t>
            </a:r>
            <a:r>
              <a:rPr lang="en-IN" sz="2400" dirty="0"/>
              <a:t> – Multi-Factor Collision Risk Analysis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IN" sz="2400" b="1" dirty="0"/>
              <a:t>Emergency Alert</a:t>
            </a:r>
            <a:r>
              <a:rPr lang="en-IN" sz="2400" dirty="0"/>
              <a:t> – Generate automatic emergency alerts.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80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TECHNOLOGIES USED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2" name="Rectangle 4"/>
          <p:cNvSpPr/>
          <p:nvPr/>
        </p:nvSpPr>
        <p:spPr>
          <a:xfrm>
            <a:off x="6553200" y="6019800"/>
            <a:ext cx="2590800" cy="838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Rounded MT Bold" pitchFamily="34" charset="0"/>
              </a:rPr>
              <a:t> AI&amp;DS</a:t>
            </a:r>
          </a:p>
        </p:txBody>
      </p:sp>
      <p:sp>
        <p:nvSpPr>
          <p:cNvPr id="1048603" name="Rectangle 5"/>
          <p:cNvSpPr/>
          <p:nvPr/>
        </p:nvSpPr>
        <p:spPr>
          <a:xfrm>
            <a:off x="-6928" y="6019800"/>
            <a:ext cx="2978727" cy="838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AERIS</a:t>
            </a:r>
          </a:p>
        </p:txBody>
      </p:sp>
      <p:pic>
        <p:nvPicPr>
          <p:cNvPr id="209715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799" y="6019801"/>
            <a:ext cx="3581401" cy="838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0" y="1166732"/>
            <a:ext cx="4419600" cy="484966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000" baseline="30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US" sz="20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CFE54-415D-E55D-608C-E22B8BB35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0" y="2274837"/>
            <a:ext cx="874142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400" b="1" dirty="0"/>
              <a:t>Programming Language</a:t>
            </a:r>
            <a:r>
              <a:rPr lang="en-IN" sz="2400" dirty="0"/>
              <a:t> – Python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400" b="1" dirty="0"/>
              <a:t>Computer Vision</a:t>
            </a:r>
            <a:r>
              <a:rPr lang="en-IN" sz="2400" dirty="0"/>
              <a:t> – OpenCV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400" b="1" dirty="0"/>
              <a:t>Object Detection</a:t>
            </a:r>
            <a:r>
              <a:rPr lang="en-IN" sz="2400" dirty="0"/>
              <a:t> – YOLOv8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400" b="1" dirty="0"/>
              <a:t>Object Tracking</a:t>
            </a:r>
            <a:r>
              <a:rPr lang="en-IN" sz="2400" dirty="0"/>
              <a:t> – BoT-SORT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400" b="1" dirty="0"/>
              <a:t>Database</a:t>
            </a:r>
            <a:r>
              <a:rPr lang="en-IN" sz="2400" dirty="0"/>
              <a:t> – MongoDB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IN" sz="2400" b="1" dirty="0"/>
              <a:t>Emergency Communication</a:t>
            </a:r>
            <a:r>
              <a:rPr lang="en-IN" sz="2400" dirty="0"/>
              <a:t> – Web Dashboard Alert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98D569-2EB8-231D-C876-E464D1E65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3"/>
          <p:cNvSpPr/>
          <p:nvPr/>
        </p:nvSpPr>
        <p:spPr>
          <a:xfrm>
            <a:off x="0" y="-928"/>
            <a:ext cx="9144000" cy="914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ADVANTAGES</a:t>
            </a:r>
          </a:p>
        </p:txBody>
      </p:sp>
      <p:sp>
        <p:nvSpPr>
          <p:cNvPr id="1048605" name="Rectangle 4"/>
          <p:cNvSpPr/>
          <p:nvPr/>
        </p:nvSpPr>
        <p:spPr>
          <a:xfrm>
            <a:off x="6553200" y="6036078"/>
            <a:ext cx="2590800" cy="838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 Rounded MT Bold" pitchFamily="34" charset="0"/>
            </a:endParaRPr>
          </a:p>
          <a:p>
            <a:pPr algn="ctr"/>
            <a:r>
              <a:rPr lang="en-US" sz="2000" b="1" dirty="0">
                <a:latin typeface="Arial Rounded MT Bold" pitchFamily="34" charset="0"/>
              </a:rPr>
              <a:t>AI&amp;DS</a:t>
            </a:r>
          </a:p>
          <a:p>
            <a:pPr algn="ctr"/>
            <a:endParaRPr lang="en-US" sz="2000" b="1" dirty="0">
              <a:latin typeface="Arial Rounded MT Bold" pitchFamily="34" charset="0"/>
            </a:endParaRPr>
          </a:p>
        </p:txBody>
      </p:sp>
      <p:sp>
        <p:nvSpPr>
          <p:cNvPr id="1048606" name="Rectangle 5"/>
          <p:cNvSpPr/>
          <p:nvPr/>
        </p:nvSpPr>
        <p:spPr>
          <a:xfrm>
            <a:off x="-6928" y="6036078"/>
            <a:ext cx="2978727" cy="838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AERIS</a:t>
            </a:r>
          </a:p>
        </p:txBody>
      </p:sp>
      <p:pic>
        <p:nvPicPr>
          <p:cNvPr id="209715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799" y="6019801"/>
            <a:ext cx="3581401" cy="838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04800" y="1219201"/>
            <a:ext cx="7767484" cy="4021394"/>
          </a:xfrm>
        </p:spPr>
        <p:txBody>
          <a:bodyPr>
            <a:normAutofit/>
          </a:bodyPr>
          <a:lstStyle/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AC57C3B-FE94-CFB3-F8D9-9329BF480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71" y="1603293"/>
            <a:ext cx="86130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Real-Time Accident Detection</a:t>
            </a:r>
            <a:r>
              <a:rPr lang="en-IN" sz="2400" dirty="0"/>
              <a:t> – Detects potential road accidents in real time using </a:t>
            </a:r>
            <a:r>
              <a:rPr lang="en-IN" sz="2400" b="1" dirty="0"/>
              <a:t>multi-camera video streams (front + rear)</a:t>
            </a:r>
            <a:r>
              <a:rPr lang="en-IN" sz="2400" dirty="0"/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Automatic Emergency Alerts</a:t>
            </a:r>
            <a:r>
              <a:rPr lang="en-IN" sz="2400" dirty="0"/>
              <a:t> – Generates and sends emergency alerts immediately after an accident is detected.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Improved Road Safety</a:t>
            </a:r>
            <a:r>
              <a:rPr lang="en-IN" sz="2400" dirty="0"/>
              <a:t> – Helps reduce emergency response time and enables faster assistance to accident victims.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400" b="1" dirty="0"/>
              <a:t>Continuous Monitoring</a:t>
            </a:r>
            <a:r>
              <a:rPr lang="en-IN" sz="2400" dirty="0"/>
              <a:t> – Continuously monitors the road through the </a:t>
            </a:r>
            <a:r>
              <a:rPr lang="en-IN" sz="2400" b="1" dirty="0"/>
              <a:t>vehicle Multi - camera</a:t>
            </a:r>
            <a:r>
              <a:rPr lang="en-IN" sz="2400" dirty="0"/>
              <a:t> without requiring manual intervention.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3"/>
          <p:cNvSpPr/>
          <p:nvPr/>
        </p:nvSpPr>
        <p:spPr>
          <a:xfrm>
            <a:off x="-6928" y="0"/>
            <a:ext cx="9144000" cy="914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		     APPLICATIONS</a:t>
            </a:r>
          </a:p>
        </p:txBody>
      </p:sp>
      <p:sp>
        <p:nvSpPr>
          <p:cNvPr id="1048605" name="Rectangle 4"/>
          <p:cNvSpPr/>
          <p:nvPr/>
        </p:nvSpPr>
        <p:spPr>
          <a:xfrm>
            <a:off x="6553200" y="6019800"/>
            <a:ext cx="2590800" cy="838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Rounded MT Bold" pitchFamily="34" charset="0"/>
              </a:rPr>
              <a:t>AI&amp;DS</a:t>
            </a:r>
          </a:p>
        </p:txBody>
      </p:sp>
      <p:sp>
        <p:nvSpPr>
          <p:cNvPr id="1048606" name="Rectangle 5"/>
          <p:cNvSpPr/>
          <p:nvPr/>
        </p:nvSpPr>
        <p:spPr>
          <a:xfrm>
            <a:off x="-6928" y="6019800"/>
            <a:ext cx="2978727" cy="838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AERIS</a:t>
            </a:r>
          </a:p>
        </p:txBody>
      </p:sp>
      <p:pic>
        <p:nvPicPr>
          <p:cNvPr id="209715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799" y="6019801"/>
            <a:ext cx="3581401" cy="838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BA6624B-D395-4997-83FE-79B6FC6DB85B}"/>
              </a:ext>
            </a:extLst>
          </p:cNvPr>
          <p:cNvSpPr txBox="1"/>
          <p:nvPr/>
        </p:nvSpPr>
        <p:spPr>
          <a:xfrm>
            <a:off x="381000" y="1477431"/>
            <a:ext cx="8534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Private Vehicles</a:t>
            </a:r>
            <a:r>
              <a:rPr lang="en-IN" sz="2400" dirty="0"/>
              <a:t> – Monitor road conditions and detect potential accidents using an front + rear vehicle cameras.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Public Transport</a:t>
            </a:r>
            <a:r>
              <a:rPr lang="en-IN" sz="2400" dirty="0"/>
              <a:t> – Improve passenger safety by monitoring buses and other commercial vehicles for accident events.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Highways &amp; Expressways</a:t>
            </a:r>
            <a:r>
              <a:rPr lang="en-IN" sz="2400" dirty="0"/>
              <a:t> – Detect accidents in real time and enable faster emergency response.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Emergency Response Systems</a:t>
            </a:r>
            <a:r>
              <a:rPr lang="en-IN" sz="2400" dirty="0"/>
              <a:t> – Provide instant accident information, GPS location, and evidence to emergency services.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090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dirty="0"/>
              <a:t>Future Enhancement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5" name="Rectangle 4"/>
          <p:cNvSpPr/>
          <p:nvPr/>
        </p:nvSpPr>
        <p:spPr>
          <a:xfrm>
            <a:off x="6567932" y="6028582"/>
            <a:ext cx="2590800" cy="838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latin typeface="Arial Rounded MT Bold" pitchFamily="34" charset="0"/>
              </a:rPr>
              <a:t>AI</a:t>
            </a:r>
            <a:r>
              <a:rPr lang="en-US" sz="2000" b="1" dirty="0">
                <a:latin typeface="Arial Rounded MT Bold" pitchFamily="34" charset="0"/>
              </a:rPr>
              <a:t>&amp;DS</a:t>
            </a:r>
          </a:p>
        </p:txBody>
      </p:sp>
      <p:sp>
        <p:nvSpPr>
          <p:cNvPr id="1048606" name="Rectangle 5"/>
          <p:cNvSpPr/>
          <p:nvPr/>
        </p:nvSpPr>
        <p:spPr>
          <a:xfrm>
            <a:off x="-6928" y="6019800"/>
            <a:ext cx="2978727" cy="838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AERIS</a:t>
            </a:r>
          </a:p>
          <a:p>
            <a:pPr lvl="0" algn="ctr"/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209715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799" y="6019801"/>
            <a:ext cx="3581401" cy="838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99411" y="1178921"/>
            <a:ext cx="8345178" cy="484966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Cloud-Based Monitoring</a:t>
            </a:r>
            <a:r>
              <a:rPr lang="en-IN" sz="2400" dirty="0"/>
              <a:t> – Store accident data and evidence securely in the cloud for remote access and analysis.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Mobile Application</a:t>
            </a:r>
            <a:r>
              <a:rPr lang="en-IN" sz="2400" dirty="0"/>
              <a:t> – Develop a mobile app for instant accident notifications, live status, and location tracking.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AI-Based Severity Analysis</a:t>
            </a:r>
            <a:r>
              <a:rPr lang="en-IN" sz="2400" dirty="0"/>
              <a:t> – </a:t>
            </a:r>
            <a:r>
              <a:rPr lang="en-IN" sz="2400" dirty="0" err="1"/>
              <a:t>Analyze</a:t>
            </a:r>
            <a:r>
              <a:rPr lang="en-IN" sz="2400" dirty="0"/>
              <a:t> accident severity using advanced deep learning techniques and vehicle movement patterns.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Emergency Service Integration</a:t>
            </a:r>
            <a:r>
              <a:rPr lang="en-IN" sz="2400" dirty="0"/>
              <a:t> – Integrate directly with ambulance, police, and hospital systems for faster emergency response.</a:t>
            </a:r>
          </a:p>
        </p:txBody>
      </p:sp>
    </p:spTree>
    <p:extLst>
      <p:ext uri="{BB962C8B-B14F-4D97-AF65-F5344CB8AC3E}">
        <p14:creationId xmlns:p14="http://schemas.microsoft.com/office/powerpoint/2010/main" val="228681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407B-03E4-57B0-313F-2B91C8725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Rectangle 3">
            <a:extLst>
              <a:ext uri="{FF2B5EF4-FFF2-40B4-BE49-F238E27FC236}">
                <a16:creationId xmlns:a16="http://schemas.microsoft.com/office/drawing/2014/main" id="{37D25EA3-D7BE-A8E3-69C8-43C8E9D1F59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latin typeface="Times New Roman" pitchFamily="18" charset="0"/>
                <a:cs typeface="Times New Roman" pitchFamily="18" charset="0"/>
              </a:rPr>
              <a:t>SDG GOALS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48605" name="Rectangle 4">
            <a:extLst>
              <a:ext uri="{FF2B5EF4-FFF2-40B4-BE49-F238E27FC236}">
                <a16:creationId xmlns:a16="http://schemas.microsoft.com/office/drawing/2014/main" id="{AB0F4AE8-4D1C-4D50-D09E-E6570266D278}"/>
              </a:ext>
            </a:extLst>
          </p:cNvPr>
          <p:cNvSpPr/>
          <p:nvPr/>
        </p:nvSpPr>
        <p:spPr>
          <a:xfrm>
            <a:off x="6567932" y="6028582"/>
            <a:ext cx="2590800" cy="838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latin typeface="Arial Rounded MT Bold" pitchFamily="34" charset="0"/>
              </a:rPr>
              <a:t>AI</a:t>
            </a:r>
            <a:r>
              <a:rPr lang="en-US" sz="2000" b="1" dirty="0">
                <a:latin typeface="Arial Rounded MT Bold" pitchFamily="34" charset="0"/>
              </a:rPr>
              <a:t>&amp;DS</a:t>
            </a:r>
          </a:p>
        </p:txBody>
      </p:sp>
      <p:sp>
        <p:nvSpPr>
          <p:cNvPr id="1048606" name="Rectangle 5">
            <a:extLst>
              <a:ext uri="{FF2B5EF4-FFF2-40B4-BE49-F238E27FC236}">
                <a16:creationId xmlns:a16="http://schemas.microsoft.com/office/drawing/2014/main" id="{6AACEAFF-0A3A-83BD-F3B9-B9A3C0D69382}"/>
              </a:ext>
            </a:extLst>
          </p:cNvPr>
          <p:cNvSpPr/>
          <p:nvPr/>
        </p:nvSpPr>
        <p:spPr>
          <a:xfrm>
            <a:off x="-6928" y="6019800"/>
            <a:ext cx="2978727" cy="838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AERIS</a:t>
            </a:r>
          </a:p>
          <a:p>
            <a:pPr lvl="0" algn="ctr"/>
            <a:endParaRPr lang="en-US" sz="2000" dirty="0">
              <a:solidFill>
                <a:prstClr val="black"/>
              </a:solidFill>
            </a:endParaRPr>
          </a:p>
        </p:txBody>
      </p:sp>
      <p:pic>
        <p:nvPicPr>
          <p:cNvPr id="2097156" name="Picture 2">
            <a:extLst>
              <a:ext uri="{FF2B5EF4-FFF2-40B4-BE49-F238E27FC236}">
                <a16:creationId xmlns:a16="http://schemas.microsoft.com/office/drawing/2014/main" id="{2C2266F0-613B-1625-50FF-A7AF30FC4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71799" y="6019801"/>
            <a:ext cx="3581401" cy="838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20F9798-B445-04B3-DB8C-6A4D3A07C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11" y="1178921"/>
            <a:ext cx="8345178" cy="484966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SDG 3:</a:t>
            </a:r>
            <a:r>
              <a:rPr lang="en-IN" sz="2800" dirty="0"/>
              <a:t> Good Health and Well-Being.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SDG 9: </a:t>
            </a:r>
            <a:r>
              <a:rPr lang="en-IN" sz="2800" dirty="0"/>
              <a:t>Industry, Innovation, and Infrastructure.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 SDG 11:</a:t>
            </a:r>
            <a:r>
              <a:rPr lang="en-IN" sz="2800" dirty="0"/>
              <a:t> Sustainable Cities and Communities.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800" b="1" dirty="0"/>
              <a:t> SDG 17: </a:t>
            </a:r>
            <a:r>
              <a:rPr lang="en-IN" sz="2800" dirty="0"/>
              <a:t>Partnerships for the Goals (Multi-Department Collaboration)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86785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Content Placeholder 2"/>
          <p:cNvSpPr>
            <a:spLocks noGrp="1"/>
          </p:cNvSpPr>
          <p:nvPr>
            <p:ph idx="1"/>
          </p:nvPr>
        </p:nvSpPr>
        <p:spPr>
          <a:xfrm>
            <a:off x="1583516" y="1864944"/>
            <a:ext cx="6329316" cy="4525963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rgbClr val="66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FE4FE9E-BFC9-4B11-83A1-77CBC004C06D}"/>
              </a:ext>
            </a:extLst>
          </p:cNvPr>
          <p:cNvSpPr/>
          <p:nvPr/>
        </p:nvSpPr>
        <p:spPr>
          <a:xfrm>
            <a:off x="-6928" y="6019800"/>
            <a:ext cx="2978727" cy="8382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AERIS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5D97FDD-62B9-4ACA-A8B7-544DE1476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71799" y="6019800"/>
            <a:ext cx="3581401" cy="83820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Rectangle 4">
            <a:extLst>
              <a:ext uri="{FF2B5EF4-FFF2-40B4-BE49-F238E27FC236}">
                <a16:creationId xmlns:a16="http://schemas.microsoft.com/office/drawing/2014/main" id="{98A7A2C8-8F4E-4214-8E6D-F336888650CF}"/>
              </a:ext>
            </a:extLst>
          </p:cNvPr>
          <p:cNvSpPr/>
          <p:nvPr/>
        </p:nvSpPr>
        <p:spPr>
          <a:xfrm>
            <a:off x="6564923" y="6019799"/>
            <a:ext cx="2590800" cy="83820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Arial Rounded MT Bold" pitchFamily="34" charset="0"/>
              </a:rPr>
              <a:t>AI&amp;DS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567</Words>
  <Application>Microsoft Office PowerPoint</Application>
  <PresentationFormat>On-screen Show (4:3)</PresentationFormat>
  <Paragraphs>86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Agency FB</vt:lpstr>
      <vt:lpstr>Arial</vt:lpstr>
      <vt:lpstr>Arial Rounded MT Bold</vt:lpstr>
      <vt:lpstr>Berlin Sans FB Demi</vt:lpstr>
      <vt:lpstr>Britannic Bold</vt:lpstr>
      <vt:lpstr>Calibri</vt:lpstr>
      <vt:lpstr>Courier New</vt:lpstr>
      <vt:lpstr>Times New Roman</vt:lpstr>
      <vt:lpstr>Wingdings</vt:lpstr>
      <vt:lpstr>Office Theme</vt:lpstr>
      <vt:lpstr> </vt:lpstr>
      <vt:lpstr> Accident Emergency Response &amp; Intelligence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Nithish S</dc:creator>
  <cp:lastModifiedBy>Nithish S</cp:lastModifiedBy>
  <cp:revision>15</cp:revision>
  <dcterms:modified xsi:type="dcterms:W3CDTF">2026-10-13T05:16:39Z</dcterms:modified>
</cp:coreProperties>
</file>