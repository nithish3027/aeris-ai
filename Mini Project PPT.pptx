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 lvl="0">
      <a:defRPr lang="en-US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484C6E-F4BE-4684-8CD4-598CDBB110FE}" v="2" dt="2025-08-12T02:26:52.3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930" y="45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t" anchorCtr="0" compatLnSpc="1">
            <a:prstTxWarp prst="textNoShape">
              <a:avLst/>
            </a:prstTxWarp>
          </a:bodyPr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0487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t" anchorCtr="0" compatLnSpc="1">
            <a:prstTxWarp prst="textNoShape">
              <a:avLst/>
            </a:prstTxWarp>
          </a:bodyPr>
          <a:lstStyle>
            <a:lvl1pPr algn="r">
              <a:defRPr sz="1100"/>
            </a:lvl1pPr>
          </a:lstStyle>
          <a:p>
            <a:endParaRPr lang="en-US" dirty="0"/>
          </a:p>
        </p:txBody>
      </p:sp>
      <p:sp>
        <p:nvSpPr>
          <p:cNvPr id="10487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0487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7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b" anchorCtr="0" compatLnSpc="1">
            <a:prstTxWarp prst="textNoShape">
              <a:avLst/>
            </a:prstTxWarp>
          </a:bodyPr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0487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b" anchorCtr="0" compatLnSpc="1">
            <a:prstTxWarp prst="textNoShape">
              <a:avLst/>
            </a:prstTxWarp>
          </a:bodyPr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6420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8" name="Notes Placeholder 1048707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385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582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4858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58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58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59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59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59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59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4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75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7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7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7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80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81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82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83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84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86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87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88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89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90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91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92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55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56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5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3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9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95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6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97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98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9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70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70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3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64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048665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6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6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6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70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7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7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7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8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59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6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66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866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577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578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4C9FA-0055-43BC-B023-48B23A08237D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104857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4858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F5550C-5186-4981-8175-01089E9C2DF7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1219199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48588" name="Rectangle 4"/>
          <p:cNvSpPr/>
          <p:nvPr/>
        </p:nvSpPr>
        <p:spPr>
          <a:xfrm>
            <a:off x="304800" y="381000"/>
            <a:ext cx="8763000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0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WELCOME TO </a:t>
            </a:r>
          </a:p>
          <a:p>
            <a:pPr algn="ctr"/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</a:p>
          <a:p>
            <a:pPr algn="ctr"/>
            <a:r>
              <a:rPr lang="en-US" sz="5400" b="1" dirty="0">
                <a:solidFill>
                  <a:schemeClr val="accent6">
                    <a:lumMod val="75000"/>
                  </a:schemeClr>
                </a:solidFill>
                <a:latin typeface="Berlin Sans FB Demi" pitchFamily="34" charset="0"/>
                <a:cs typeface="Times New Roman" panose="02020603050405020304" pitchFamily="18" charset="0"/>
              </a:rPr>
              <a:t>MINI PROJECT EXPO-2026</a:t>
            </a:r>
          </a:p>
          <a:p>
            <a:pPr algn="ctr"/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D:\for stall add 09\college video\00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352800"/>
            <a:ext cx="9172775" cy="350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Title 1"/>
          <p:cNvSpPr>
            <a:spLocks noGrp="1"/>
          </p:cNvSpPr>
          <p:nvPr>
            <p:ph type="ctrTitle"/>
          </p:nvPr>
        </p:nvSpPr>
        <p:spPr>
          <a:xfrm>
            <a:off x="0" y="-136321"/>
            <a:ext cx="9144000" cy="1034641"/>
          </a:xfrm>
        </p:spPr>
        <p:txBody>
          <a:bodyPr>
            <a:noAutofit/>
          </a:bodyPr>
          <a:lstStyle/>
          <a:p>
            <a:br>
              <a:rPr lang="en-US" sz="3800" b="1" dirty="0">
                <a:latin typeface="Times New Roman" pitchFamily="18" charset="0"/>
                <a:cs typeface="Times New Roman" pitchFamily="18" charset="0"/>
              </a:rPr>
            </a:br>
            <a:r>
              <a:rPr lang="en-US" sz="3800" b="1" dirty="0">
                <a:latin typeface="Times New Roman" pitchFamily="18" charset="0"/>
                <a:cs typeface="Times New Roman" pitchFamily="18" charset="0"/>
              </a:rPr>
              <a:t>Accident Emergency Response &amp; Intelligence System</a:t>
            </a:r>
            <a:endParaRPr lang="en-US" sz="3800" b="1" dirty="0">
              <a:latin typeface="Britannic Bold" panose="020B0903060703020204" pitchFamily="34" charset="0"/>
              <a:cs typeface="Times New Roman" pitchFamily="18" charset="0"/>
            </a:endParaRPr>
          </a:p>
        </p:txBody>
      </p:sp>
      <p:sp>
        <p:nvSpPr>
          <p:cNvPr id="1048587" name="Subtitle 2"/>
          <p:cNvSpPr>
            <a:spLocks noGrp="1"/>
          </p:cNvSpPr>
          <p:nvPr>
            <p:ph type="subTitle" idx="1"/>
          </p:nvPr>
        </p:nvSpPr>
        <p:spPr>
          <a:xfrm>
            <a:off x="2019300" y="1371600"/>
            <a:ext cx="5105400" cy="1600200"/>
          </a:xfrm>
        </p:spPr>
        <p:txBody>
          <a:bodyPr>
            <a:normAutofit fontScale="93929"/>
          </a:bodyPr>
          <a:lstStyle/>
          <a:p>
            <a:r>
              <a:rPr lang="en-US" sz="1600" b="1" dirty="0">
                <a:solidFill>
                  <a:schemeClr val="tx1"/>
                </a:solidFill>
                <a:latin typeface="Agency FB" pitchFamily="34" charset="0"/>
                <a:cs typeface="Times New Roman" pitchFamily="18" charset="0"/>
              </a:rPr>
              <a:t>By,</a:t>
            </a:r>
          </a:p>
          <a:p>
            <a:pPr lvl="1" algn="just"/>
            <a:r>
              <a:rPr lang="en-US" sz="1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M. </a:t>
            </a:r>
            <a:r>
              <a:rPr lang="en-US" sz="18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Sabarigiri</a:t>
            </a:r>
            <a:r>
              <a:rPr lang="en-US" sz="1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                         (920224243048) </a:t>
            </a:r>
          </a:p>
          <a:p>
            <a:pPr lvl="1" algn="just"/>
            <a:r>
              <a:rPr lang="en-US" sz="1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S. Senthamizh Selvan             (920224243051)                 </a:t>
            </a:r>
          </a:p>
          <a:p>
            <a:pPr lvl="1" algn="just"/>
            <a:r>
              <a:rPr lang="en-US" sz="1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S. </a:t>
            </a:r>
            <a:r>
              <a:rPr lang="en-US" sz="18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Venkateshwaran</a:t>
            </a:r>
            <a:r>
              <a:rPr lang="en-US" sz="1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                 (920224243058)</a:t>
            </a:r>
          </a:p>
          <a:p>
            <a:pPr lvl="1" algn="just"/>
            <a:r>
              <a:rPr lang="en-US" sz="1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S. Nithish                                 (920224243037)</a:t>
            </a:r>
          </a:p>
        </p:txBody>
      </p:sp>
      <p:sp>
        <p:nvSpPr>
          <p:cNvPr id="1048588" name="Rectangle 4"/>
          <p:cNvSpPr/>
          <p:nvPr/>
        </p:nvSpPr>
        <p:spPr>
          <a:xfrm>
            <a:off x="0" y="2971800"/>
            <a:ext cx="9144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Mr. P.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Vasantha kumar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</a:t>
            </a:r>
          </a:p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DEPARTMENT OF ARTIFICIAL INTELLIGENCE AND DATA  SCIENCE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" y="4800600"/>
            <a:ext cx="708660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67464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4" name="Content Placeholder 2"/>
          <p:cNvSpPr>
            <a:spLocks noGrp="1"/>
          </p:cNvSpPr>
          <p:nvPr>
            <p:ph idx="1"/>
          </p:nvPr>
        </p:nvSpPr>
        <p:spPr>
          <a:xfrm>
            <a:off x="25052" y="914400"/>
            <a:ext cx="9093896" cy="5105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Ø"/>
            </a:pPr>
            <a:r>
              <a:rPr lang="en-IN" sz="2400" dirty="0"/>
              <a:t>The objective of this project is to develop an </a:t>
            </a:r>
            <a:r>
              <a:rPr lang="en-IN" sz="2400" b="1" dirty="0"/>
              <a:t>Accident Emergency Response &amp; Intelligence System (AERIS)</a:t>
            </a:r>
            <a:r>
              <a:rPr lang="en-IN" sz="2400" dirty="0"/>
              <a:t> using </a:t>
            </a:r>
            <a:r>
              <a:rPr lang="en-IN" sz="2400" b="1" dirty="0"/>
              <a:t>Deep Learning and Computer Vision</a:t>
            </a:r>
            <a:r>
              <a:rPr lang="en-IN" sz="2400" dirty="0"/>
              <a:t> to monitor </a:t>
            </a:r>
            <a:r>
              <a:rPr lang="en-IN" sz="2400" b="1" dirty="0"/>
              <a:t>multi-camera video streams (front + rear)</a:t>
            </a:r>
            <a:r>
              <a:rPr lang="en-IN" sz="2400" dirty="0"/>
              <a:t>, detect road accidents in real time, capture accident evidence, and automatically send emergency alerts for rapid response.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IN" sz="2400" b="1" dirty="0"/>
              <a:t>  By leveraging advanced AI technologies, the project seeks to:</a:t>
            </a:r>
            <a:endParaRPr lang="en-IN" sz="2400" dirty="0"/>
          </a:p>
          <a:p>
            <a:r>
              <a:rPr lang="en-IN" sz="2400" dirty="0"/>
              <a:t>Detect vehicles in real time using </a:t>
            </a:r>
            <a:r>
              <a:rPr lang="en-IN" sz="2400" b="1" dirty="0"/>
              <a:t>YOLOv8</a:t>
            </a:r>
            <a:r>
              <a:rPr lang="en-IN" sz="2400" dirty="0"/>
              <a:t>.</a:t>
            </a:r>
          </a:p>
          <a:p>
            <a:r>
              <a:rPr lang="en-IN" sz="2400" dirty="0"/>
              <a:t>Track multiple vehicles accurately using </a:t>
            </a:r>
            <a:r>
              <a:rPr lang="en-IN" sz="2400" b="1" dirty="0"/>
              <a:t>BoT-SORT</a:t>
            </a:r>
            <a:r>
              <a:rPr lang="en-IN" sz="2400" dirty="0"/>
              <a:t>.</a:t>
            </a:r>
          </a:p>
          <a:p>
            <a:r>
              <a:rPr lang="en-IN" sz="2400" dirty="0" err="1"/>
              <a:t>Analyze</a:t>
            </a:r>
            <a:r>
              <a:rPr lang="en-IN" sz="2400" dirty="0"/>
              <a:t> vehicle movements and detect potential road accidents automatically..</a:t>
            </a:r>
          </a:p>
          <a:p>
            <a:r>
              <a:rPr lang="en-IN" sz="2400" dirty="0"/>
              <a:t>Capture accident screenshots and video clips as evidence.</a:t>
            </a:r>
          </a:p>
          <a:p>
            <a:r>
              <a:rPr lang="en-IN" sz="2400" b="1" dirty="0"/>
              <a:t>Generate and send instant emergency alerts to the concerned authorities.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8595" name="Rectangl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OBJECTIVE</a:t>
            </a:r>
          </a:p>
        </p:txBody>
      </p:sp>
      <p:sp>
        <p:nvSpPr>
          <p:cNvPr id="1048596" name="Rectangle 4"/>
          <p:cNvSpPr/>
          <p:nvPr/>
        </p:nvSpPr>
        <p:spPr>
          <a:xfrm>
            <a:off x="6589734" y="6019800"/>
            <a:ext cx="2590800" cy="838199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latin typeface="Arial Rounded MT Bold" pitchFamily="34" charset="0"/>
            </a:endParaRPr>
          </a:p>
          <a:p>
            <a:pPr algn="ctr"/>
            <a:r>
              <a:rPr lang="en-US" sz="2000" b="1" dirty="0">
                <a:latin typeface="Arial Rounded MT Bold" pitchFamily="34" charset="0"/>
              </a:rPr>
              <a:t> AI&amp;DS</a:t>
            </a:r>
          </a:p>
          <a:p>
            <a:pPr algn="ctr"/>
            <a:endParaRPr lang="en-US" sz="2000" b="1" dirty="0">
              <a:latin typeface="Arial Rounded MT Bold" pitchFamily="34" charset="0"/>
            </a:endParaRPr>
          </a:p>
        </p:txBody>
      </p:sp>
      <p:sp>
        <p:nvSpPr>
          <p:cNvPr id="1048597" name="Rectangle 5"/>
          <p:cNvSpPr/>
          <p:nvPr/>
        </p:nvSpPr>
        <p:spPr>
          <a:xfrm>
            <a:off x="-6928" y="6019800"/>
            <a:ext cx="2978727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ACCIDENT DETECTION</a:t>
            </a:r>
          </a:p>
        </p:txBody>
      </p:sp>
      <p:pic>
        <p:nvPicPr>
          <p:cNvPr id="209715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8" name="Rectangle 3"/>
          <p:cNvSpPr/>
          <p:nvPr/>
        </p:nvSpPr>
        <p:spPr>
          <a:xfrm>
            <a:off x="-6928" y="0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BLOCK DIAGRAM</a:t>
            </a:r>
          </a:p>
        </p:txBody>
      </p:sp>
      <p:sp>
        <p:nvSpPr>
          <p:cNvPr id="1048599" name="Rectangle 4"/>
          <p:cNvSpPr/>
          <p:nvPr/>
        </p:nvSpPr>
        <p:spPr>
          <a:xfrm>
            <a:off x="6546272" y="6019800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latin typeface="Arial Rounded MT Bold" pitchFamily="34" charset="0"/>
            </a:endParaRPr>
          </a:p>
          <a:p>
            <a:pPr algn="ctr"/>
            <a:r>
              <a:rPr lang="en-US" sz="2000" b="1" dirty="0">
                <a:latin typeface="Arial Rounded MT Bold" pitchFamily="34" charset="0"/>
              </a:rPr>
              <a:t> AI&amp;DS</a:t>
            </a:r>
          </a:p>
          <a:p>
            <a:pPr algn="ctr"/>
            <a:endParaRPr lang="en-US" sz="2000" b="1" dirty="0">
              <a:latin typeface="Arial Rounded MT Bold" pitchFamily="34" charset="0"/>
            </a:endParaRPr>
          </a:p>
        </p:txBody>
      </p:sp>
      <p:sp>
        <p:nvSpPr>
          <p:cNvPr id="1048600" name="Rectangle 5"/>
          <p:cNvSpPr/>
          <p:nvPr/>
        </p:nvSpPr>
        <p:spPr>
          <a:xfrm>
            <a:off x="0" y="6013704"/>
            <a:ext cx="2971799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ACCIDENT DETECTION</a:t>
            </a:r>
            <a:endParaRPr lang="en-US" sz="1800" dirty="0">
              <a:solidFill>
                <a:schemeClr val="tx1"/>
              </a:solidFill>
            </a:endParaRPr>
          </a:p>
        </p:txBody>
      </p:sp>
      <p:pic>
        <p:nvPicPr>
          <p:cNvPr id="20971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CD1EFD1-0C9E-2C10-6E5B-35905FD5E1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0308" y="1213104"/>
            <a:ext cx="8171727" cy="4495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8" name="Rectangle 3"/>
          <p:cNvSpPr/>
          <p:nvPr/>
        </p:nvSpPr>
        <p:spPr>
          <a:xfrm>
            <a:off x="-6928" y="-18288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MODULES USED</a:t>
            </a:r>
          </a:p>
        </p:txBody>
      </p:sp>
      <p:sp>
        <p:nvSpPr>
          <p:cNvPr id="1048599" name="Rectangle 4"/>
          <p:cNvSpPr/>
          <p:nvPr/>
        </p:nvSpPr>
        <p:spPr>
          <a:xfrm>
            <a:off x="6553200" y="6019800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 Rounded MT Bold" pitchFamily="34" charset="0"/>
              </a:rPr>
              <a:t>AI&amp;DS</a:t>
            </a:r>
          </a:p>
        </p:txBody>
      </p:sp>
      <p:sp>
        <p:nvSpPr>
          <p:cNvPr id="1048600" name="Rectangle 5"/>
          <p:cNvSpPr/>
          <p:nvPr/>
        </p:nvSpPr>
        <p:spPr>
          <a:xfrm>
            <a:off x="-13692" y="6019800"/>
            <a:ext cx="2971799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prstClr val="black"/>
                </a:solidFill>
              </a:rPr>
              <a:t>ACCIDENT DETECTION</a:t>
            </a:r>
          </a:p>
        </p:txBody>
      </p:sp>
      <p:pic>
        <p:nvPicPr>
          <p:cNvPr id="20971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8124" y="1170138"/>
            <a:ext cx="9093896" cy="4849661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218196-CA9A-BBA5-7E46-1672D7B98D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7690" y="5374749"/>
            <a:ext cx="7246374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F3ECB8-D354-4AB3-5E2A-59731FF9BE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740" y="1905506"/>
            <a:ext cx="8628664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IN" sz="2400" b="1" dirty="0"/>
              <a:t>Input Module</a:t>
            </a:r>
            <a:r>
              <a:rPr lang="en-IN" sz="2400" dirty="0"/>
              <a:t> – Capture live video stream from the </a:t>
            </a:r>
            <a:r>
              <a:rPr lang="en-IN" sz="2400" b="1" dirty="0"/>
              <a:t>Front + Rear Camera Input</a:t>
            </a:r>
            <a:r>
              <a:rPr lang="en-IN" sz="2400" dirty="0"/>
              <a:t>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IN" sz="2400" b="1" dirty="0"/>
              <a:t>Video Processing</a:t>
            </a:r>
            <a:r>
              <a:rPr lang="en-IN" sz="2400" dirty="0"/>
              <a:t> – Preprocess video frames using </a:t>
            </a:r>
            <a:r>
              <a:rPr lang="en-IN" sz="2400" b="1" dirty="0"/>
              <a:t>OpenCV</a:t>
            </a:r>
            <a:r>
              <a:rPr lang="en-IN" sz="2400" dirty="0"/>
              <a:t>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IN" sz="2400" b="1" dirty="0"/>
              <a:t>Vehicle Detection</a:t>
            </a:r>
            <a:r>
              <a:rPr lang="en-IN" sz="2400" dirty="0"/>
              <a:t> – Detect vehicles using </a:t>
            </a:r>
            <a:r>
              <a:rPr lang="en-IN" sz="2400" b="1" dirty="0"/>
              <a:t>YOLOv8</a:t>
            </a:r>
            <a:r>
              <a:rPr lang="en-IN" sz="2400" dirty="0"/>
              <a:t>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IN" sz="2400" b="1" dirty="0"/>
              <a:t>Vehicle Tracking</a:t>
            </a:r>
            <a:r>
              <a:rPr lang="en-IN" sz="2400" dirty="0"/>
              <a:t> – Track detected vehicles using </a:t>
            </a:r>
            <a:r>
              <a:rPr lang="en-IN" sz="2400" b="1" dirty="0"/>
              <a:t>BoT-SORT</a:t>
            </a:r>
            <a:r>
              <a:rPr lang="en-IN" sz="2400" dirty="0"/>
              <a:t>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IN" sz="2400" b="1" dirty="0"/>
              <a:t>Accident Detection</a:t>
            </a:r>
            <a:r>
              <a:rPr lang="en-IN" sz="2400" dirty="0"/>
              <a:t> – Multi-Factor Collision Risk Analysis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IN" sz="2400" b="1" dirty="0"/>
              <a:t>Emergency Alert</a:t>
            </a:r>
            <a:r>
              <a:rPr lang="en-IN" sz="2400" dirty="0"/>
              <a:t> – Generate automatic emergency alerts.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801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Rectangl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000" dirty="0"/>
              <a:t>TECHNOLOGIES USED</a:t>
            </a:r>
            <a:endParaRPr lang="en-US" sz="4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48602" name="Rectangle 4"/>
          <p:cNvSpPr/>
          <p:nvPr/>
        </p:nvSpPr>
        <p:spPr>
          <a:xfrm>
            <a:off x="6553200" y="6019800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 Rounded MT Bold" pitchFamily="34" charset="0"/>
              </a:rPr>
              <a:t> AI&amp;DS</a:t>
            </a:r>
          </a:p>
        </p:txBody>
      </p:sp>
      <p:sp>
        <p:nvSpPr>
          <p:cNvPr id="1048603" name="Rectangle 5"/>
          <p:cNvSpPr/>
          <p:nvPr/>
        </p:nvSpPr>
        <p:spPr>
          <a:xfrm>
            <a:off x="-6928" y="6019800"/>
            <a:ext cx="2978727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ACCIDENT DETECTION</a:t>
            </a: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20971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0" y="1166732"/>
            <a:ext cx="4419600" cy="48496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n-US" sz="2000" baseline="30000" dirty="0">
              <a:latin typeface="Times New Roman" pitchFamily="18" charset="0"/>
              <a:cs typeface="Times New Roman" pitchFamily="18" charset="0"/>
            </a:endParaRPr>
          </a:p>
          <a:p>
            <a:pPr marL="0" indent="0" algn="just">
              <a:buNone/>
            </a:pPr>
            <a:endParaRPr lang="en-US" sz="2000" baseline="30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CCFE54-415D-E55D-608C-E22B8BB35C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290" y="2274837"/>
            <a:ext cx="874142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IN" sz="2400" b="1" dirty="0"/>
              <a:t>Programming Language</a:t>
            </a:r>
            <a:r>
              <a:rPr lang="en-IN" sz="2400" dirty="0"/>
              <a:t> – Python</a:t>
            </a: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IN" sz="2400" b="1" dirty="0"/>
              <a:t>Computer Vision</a:t>
            </a:r>
            <a:r>
              <a:rPr lang="en-IN" sz="2400" dirty="0"/>
              <a:t> – OpenCV</a:t>
            </a: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IN" sz="2400" b="1" dirty="0"/>
              <a:t>Object Detection</a:t>
            </a:r>
            <a:r>
              <a:rPr lang="en-IN" sz="2400" dirty="0"/>
              <a:t> – YOLOv8</a:t>
            </a: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IN" sz="2400" b="1" dirty="0"/>
              <a:t>Object Tracking</a:t>
            </a:r>
            <a:r>
              <a:rPr lang="en-IN" sz="2400" dirty="0"/>
              <a:t> – BoT-SORT</a:t>
            </a: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IN" sz="2400" b="1" dirty="0"/>
              <a:t>Database</a:t>
            </a:r>
            <a:r>
              <a:rPr lang="en-IN" sz="2400" dirty="0"/>
              <a:t> – MongoDB</a:t>
            </a: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IN" sz="2400" b="1" dirty="0"/>
              <a:t>Emergency Communication</a:t>
            </a:r>
            <a:r>
              <a:rPr lang="en-IN" sz="2400" dirty="0"/>
              <a:t> – Web Dashboard Alert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998D569-2EB8-231D-C876-E464D1E65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Rectangle 3"/>
          <p:cNvSpPr/>
          <p:nvPr/>
        </p:nvSpPr>
        <p:spPr>
          <a:xfrm>
            <a:off x="0" y="-928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ADVANTAGES</a:t>
            </a:r>
          </a:p>
        </p:txBody>
      </p:sp>
      <p:sp>
        <p:nvSpPr>
          <p:cNvPr id="1048605" name="Rectangle 4"/>
          <p:cNvSpPr/>
          <p:nvPr/>
        </p:nvSpPr>
        <p:spPr>
          <a:xfrm>
            <a:off x="6553200" y="6036078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latin typeface="Arial Rounded MT Bold" pitchFamily="34" charset="0"/>
            </a:endParaRPr>
          </a:p>
          <a:p>
            <a:pPr algn="ctr"/>
            <a:r>
              <a:rPr lang="en-US" sz="2000" b="1" dirty="0">
                <a:latin typeface="Arial Rounded MT Bold" pitchFamily="34" charset="0"/>
              </a:rPr>
              <a:t>AI&amp;DS</a:t>
            </a:r>
          </a:p>
          <a:p>
            <a:pPr algn="ctr"/>
            <a:endParaRPr lang="en-US" sz="2000" b="1" dirty="0">
              <a:latin typeface="Arial Rounded MT Bold" pitchFamily="34" charset="0"/>
            </a:endParaRPr>
          </a:p>
        </p:txBody>
      </p:sp>
      <p:sp>
        <p:nvSpPr>
          <p:cNvPr id="1048606" name="Rectangle 5"/>
          <p:cNvSpPr/>
          <p:nvPr/>
        </p:nvSpPr>
        <p:spPr>
          <a:xfrm>
            <a:off x="-6928" y="6036078"/>
            <a:ext cx="2978727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ACCIDENT DETECTION</a:t>
            </a: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209715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04800" y="1219201"/>
            <a:ext cx="7767484" cy="4021394"/>
          </a:xfrm>
        </p:spPr>
        <p:txBody>
          <a:bodyPr>
            <a:normAutofit/>
          </a:bodyPr>
          <a:lstStyle/>
          <a:p>
            <a:pPr algn="just"/>
            <a:endParaRPr lang="en-US" sz="22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C57C3B-FE94-CFB3-F8D9-9329BF480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471" y="1603293"/>
            <a:ext cx="8613058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IN" sz="2400" b="1" dirty="0"/>
              <a:t>Real-Time Accident Detection</a:t>
            </a:r>
            <a:r>
              <a:rPr lang="en-IN" sz="2400" dirty="0"/>
              <a:t> – Detects potential road accidents in real time using </a:t>
            </a:r>
            <a:r>
              <a:rPr lang="en-IN" sz="2400" b="1" dirty="0"/>
              <a:t>multi-camera video streams (front + rear)</a:t>
            </a:r>
            <a:r>
              <a:rPr lang="en-IN" sz="2400" dirty="0"/>
              <a:t>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IN" sz="2400" b="1" dirty="0"/>
              <a:t>Automatic Emergency Alerts</a:t>
            </a:r>
            <a:r>
              <a:rPr lang="en-IN" sz="2400" dirty="0"/>
              <a:t> – Generates and sends emergency alerts immediately after an accident is detected.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IN" sz="2400" b="1" dirty="0"/>
              <a:t>Improved Road Safety</a:t>
            </a:r>
            <a:r>
              <a:rPr lang="en-IN" sz="2400" dirty="0"/>
              <a:t> – Helps reduce emergency response time and enables faster assistance to accident victims.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IN" sz="2400" b="1" dirty="0"/>
              <a:t>Continuous Monitoring</a:t>
            </a:r>
            <a:r>
              <a:rPr lang="en-IN" sz="2400" dirty="0"/>
              <a:t> – Continuously monitors the road through the </a:t>
            </a:r>
            <a:r>
              <a:rPr lang="en-IN" sz="2400" b="1" dirty="0"/>
              <a:t>vehicle Multi - camera</a:t>
            </a:r>
            <a:r>
              <a:rPr lang="en-IN" sz="2400" dirty="0"/>
              <a:t> without requiring manual intervention.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Rectangle 3"/>
          <p:cNvSpPr/>
          <p:nvPr/>
        </p:nvSpPr>
        <p:spPr>
          <a:xfrm>
            <a:off x="-6928" y="0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		     APPLICATIONS</a:t>
            </a:r>
          </a:p>
        </p:txBody>
      </p:sp>
      <p:sp>
        <p:nvSpPr>
          <p:cNvPr id="1048605" name="Rectangle 4"/>
          <p:cNvSpPr/>
          <p:nvPr/>
        </p:nvSpPr>
        <p:spPr>
          <a:xfrm>
            <a:off x="6553200" y="6019800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 Rounded MT Bold" pitchFamily="34" charset="0"/>
              </a:rPr>
              <a:t>AI&amp;DS</a:t>
            </a:r>
          </a:p>
        </p:txBody>
      </p:sp>
      <p:sp>
        <p:nvSpPr>
          <p:cNvPr id="1048606" name="Rectangle 5"/>
          <p:cNvSpPr/>
          <p:nvPr/>
        </p:nvSpPr>
        <p:spPr>
          <a:xfrm>
            <a:off x="-6928" y="6019800"/>
            <a:ext cx="2978727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ACCIDENT DETECTION</a:t>
            </a: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209715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A6624B-D395-4997-83FE-79B6FC6DB85B}"/>
              </a:ext>
            </a:extLst>
          </p:cNvPr>
          <p:cNvSpPr txBox="1"/>
          <p:nvPr/>
        </p:nvSpPr>
        <p:spPr>
          <a:xfrm>
            <a:off x="381000" y="1477431"/>
            <a:ext cx="85344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400" b="1" dirty="0"/>
              <a:t>Private Vehicles</a:t>
            </a:r>
            <a:r>
              <a:rPr lang="en-IN" sz="2400" dirty="0"/>
              <a:t> – Monitor road conditions and detect potential accidents using an front + rear vehicle cameras.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400" b="1" dirty="0"/>
              <a:t>Public Transport</a:t>
            </a:r>
            <a:r>
              <a:rPr lang="en-IN" sz="2400" dirty="0"/>
              <a:t> – Improve passenger safety by monitoring buses and other commercial vehicles for accident events.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400" b="1" dirty="0"/>
              <a:t>Highways &amp; Expressways</a:t>
            </a:r>
            <a:r>
              <a:rPr lang="en-IN" sz="2400" dirty="0"/>
              <a:t> – Detect accidents in real time and enable faster emergency response.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400" b="1" dirty="0"/>
              <a:t>Emergency Response Systems</a:t>
            </a:r>
            <a:r>
              <a:rPr lang="en-IN" sz="2400" dirty="0"/>
              <a:t> – Provide instant accident information, GPS location, and evidence to emergency services.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8090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Rectangl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000" dirty="0"/>
              <a:t>Future Enhancement</a:t>
            </a:r>
            <a:endParaRPr lang="en-US" sz="4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48605" name="Rectangle 4"/>
          <p:cNvSpPr/>
          <p:nvPr/>
        </p:nvSpPr>
        <p:spPr>
          <a:xfrm>
            <a:off x="6567932" y="6028582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latin typeface="Arial Rounded MT Bold" pitchFamily="34" charset="0"/>
              </a:rPr>
              <a:t>AI</a:t>
            </a:r>
            <a:r>
              <a:rPr lang="en-US" sz="2000" b="1" dirty="0">
                <a:latin typeface="Arial Rounded MT Bold" pitchFamily="34" charset="0"/>
              </a:rPr>
              <a:t>&amp;DS</a:t>
            </a:r>
          </a:p>
        </p:txBody>
      </p:sp>
      <p:sp>
        <p:nvSpPr>
          <p:cNvPr id="1048606" name="Rectangle 5"/>
          <p:cNvSpPr/>
          <p:nvPr/>
        </p:nvSpPr>
        <p:spPr>
          <a:xfrm>
            <a:off x="-6928" y="6019800"/>
            <a:ext cx="2978727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prstClr val="black"/>
                </a:solidFill>
              </a:rPr>
              <a:t> 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ACCIDENT DETECTION</a:t>
            </a:r>
            <a:endParaRPr lang="en-US" sz="2000" dirty="0">
              <a:solidFill>
                <a:prstClr val="black"/>
              </a:solidFill>
            </a:endParaRPr>
          </a:p>
          <a:p>
            <a:pPr lvl="0" algn="ctr"/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209715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799" y="6019801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99411" y="1178921"/>
            <a:ext cx="8345178" cy="48496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Cloud-Based Monitoring</a:t>
            </a:r>
            <a:r>
              <a:rPr lang="en-IN" sz="2400" dirty="0"/>
              <a:t> – Store accident data and evidence securely in the cloud for remote access and analysis.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Mobile Application</a:t>
            </a:r>
            <a:r>
              <a:rPr lang="en-IN" sz="2400" dirty="0"/>
              <a:t> – Develop a mobile app for instant accident notifications, live status, and location tracking.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AI-Based Severity Analysis</a:t>
            </a:r>
            <a:r>
              <a:rPr lang="en-IN" sz="2400" dirty="0"/>
              <a:t> – </a:t>
            </a:r>
            <a:r>
              <a:rPr lang="en-IN" sz="2400" dirty="0" err="1"/>
              <a:t>Analyze</a:t>
            </a:r>
            <a:r>
              <a:rPr lang="en-IN" sz="2400" dirty="0"/>
              <a:t> accident severity using advanced deep learning techniques and vehicle movement patterns.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Emergency Service Integration</a:t>
            </a:r>
            <a:r>
              <a:rPr lang="en-IN" sz="2400" dirty="0"/>
              <a:t> – Integrate directly with ambulance, police, and hospital systems for faster emergency response.</a:t>
            </a:r>
          </a:p>
        </p:txBody>
      </p:sp>
    </p:spTree>
    <p:extLst>
      <p:ext uri="{BB962C8B-B14F-4D97-AF65-F5344CB8AC3E}">
        <p14:creationId xmlns:p14="http://schemas.microsoft.com/office/powerpoint/2010/main" val="228681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Content Placeholder 2"/>
          <p:cNvSpPr>
            <a:spLocks noGrp="1"/>
          </p:cNvSpPr>
          <p:nvPr>
            <p:ph idx="1"/>
          </p:nvPr>
        </p:nvSpPr>
        <p:spPr>
          <a:xfrm>
            <a:off x="1583516" y="1864944"/>
            <a:ext cx="6329316" cy="4525963"/>
          </a:xfrm>
          <a:noFill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8800" b="1" dirty="0">
                <a:solidFill>
                  <a:srgbClr val="6600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FE4FE9E-BFC9-4B11-83A1-77CBC004C06D}"/>
              </a:ext>
            </a:extLst>
          </p:cNvPr>
          <p:cNvSpPr/>
          <p:nvPr/>
        </p:nvSpPr>
        <p:spPr>
          <a:xfrm>
            <a:off x="-6928" y="6019800"/>
            <a:ext cx="2978727" cy="838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ACCIDENT DETECTION</a:t>
            </a: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5D97FDD-62B9-4ACA-A8B7-544DE1476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971799" y="6019800"/>
            <a:ext cx="3581401" cy="8382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Rectangle 4">
            <a:extLst>
              <a:ext uri="{FF2B5EF4-FFF2-40B4-BE49-F238E27FC236}">
                <a16:creationId xmlns:a16="http://schemas.microsoft.com/office/drawing/2014/main" id="{98A7A2C8-8F4E-4214-8E6D-F336888650CF}"/>
              </a:ext>
            </a:extLst>
          </p:cNvPr>
          <p:cNvSpPr/>
          <p:nvPr/>
        </p:nvSpPr>
        <p:spPr>
          <a:xfrm>
            <a:off x="6564923" y="6019799"/>
            <a:ext cx="2590800" cy="83820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 Rounded MT Bold" pitchFamily="34" charset="0"/>
              </a:rPr>
              <a:t>AI&amp;DS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529</Words>
  <Application>Microsoft Office PowerPoint</Application>
  <PresentationFormat>On-screen Show (4:3)</PresentationFormat>
  <Paragraphs>77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Agency FB</vt:lpstr>
      <vt:lpstr>Arial</vt:lpstr>
      <vt:lpstr>Arial Rounded MT Bold</vt:lpstr>
      <vt:lpstr>Berlin Sans FB Demi</vt:lpstr>
      <vt:lpstr>Britannic Bold</vt:lpstr>
      <vt:lpstr>Calibri</vt:lpstr>
      <vt:lpstr>Courier New</vt:lpstr>
      <vt:lpstr>Times New Roman</vt:lpstr>
      <vt:lpstr>Wingdings</vt:lpstr>
      <vt:lpstr>Office Theme</vt:lpstr>
      <vt:lpstr> </vt:lpstr>
      <vt:lpstr> Accident Emergency Response &amp; Intelligence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Nithish S</dc:creator>
  <cp:lastModifiedBy>Nithish S</cp:lastModifiedBy>
  <cp:revision>14</cp:revision>
  <dcterms:modified xsi:type="dcterms:W3CDTF">2026-08-26T17:38:15Z</dcterms:modified>
</cp:coreProperties>
</file>